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8" r:id="rId6"/>
    <p:sldId id="260" r:id="rId7"/>
    <p:sldId id="259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views/CyclisticRidePatternsandTrendsAYearlyComparison/CyclisticRidePatternsandTrend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686D0-C123-7224-7CB6-D5A7A4A030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5" t="9091" r="7086"/>
          <a:stretch>
            <a:fillRect/>
          </a:stretch>
        </p:blipFill>
        <p:spPr>
          <a:xfrm>
            <a:off x="19" y="9635"/>
            <a:ext cx="12191981" cy="685799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1">
            <a:extLst>
              <a:ext uri="{FF2B5EF4-FFF2-40B4-BE49-F238E27FC236}">
                <a16:creationId xmlns:a16="http://schemas.microsoft.com/office/drawing/2014/main" id="{B3DC1C98-FDCB-48F6-9D8E-EADBF52D4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04" y="1752532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Cyclistic</a:t>
            </a:r>
            <a:r>
              <a:rPr lang="en-US" sz="6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Conversion Strategy </a:t>
            </a:r>
            <a:r>
              <a:rPr lang="en-US" sz="4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2019-2020 Growth Analysis</a:t>
            </a:r>
            <a:endParaRPr lang="en-US" sz="4400" b="1" dirty="0">
              <a:solidFill>
                <a:schemeClr val="accent5">
                  <a:lumMod val="20000"/>
                  <a:lumOff val="8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B17473FD-22A2-4C98-9119-3D23A9D8D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done by Samuel Sanni (Junior Date Analyst) on 2026/1/2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04521-9696-8481-29DE-ECD92ECA0C88}"/>
              </a:ext>
            </a:extLst>
          </p:cNvPr>
          <p:cNvSpPr txBox="1"/>
          <p:nvPr/>
        </p:nvSpPr>
        <p:spPr>
          <a:xfrm>
            <a:off x="290722" y="4087158"/>
            <a:ext cx="8208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highlight>
                  <a:srgbClr val="C0C0C0"/>
                </a:highlight>
              </a:rPr>
              <a:t>Identifying Behavioral Trends to Convert Casual Riders into Annual Members</a:t>
            </a:r>
            <a:endParaRPr lang="en-NG" sz="20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2A6CF4-7F4E-AE32-DD96-56D69F3E1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Task</a:t>
            </a:r>
            <a:endParaRPr lang="en-NG" sz="5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D4C0C-6F26-65F1-FB0B-DBFB54ABF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identify usage differences between members and casual riders to inform digital marketing strategies.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NG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8383E-3C91-D840-4265-42DCE11A5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54" r="3322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0666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8EEA-EEE8-06D6-680B-7E6905466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Overview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DDAC4-EDEF-EB00-E955-D2A71DAAE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project followed the standard Data Analysis process: </a:t>
            </a:r>
            <a:r>
              <a:rPr lang="en-US" b="1" dirty="0"/>
              <a:t>Ask, Prepare, Process, Analyze, Share, and Act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b="1" dirty="0"/>
            </a:br>
            <a:endParaRPr lang="da-DK" b="1" dirty="0"/>
          </a:p>
          <a:p>
            <a:pPr marL="0" indent="0">
              <a:buNone/>
            </a:pPr>
            <a:r>
              <a:rPr lang="da-DK" b="1" dirty="0"/>
              <a:t>Toolkit:</a:t>
            </a:r>
            <a:endParaRPr lang="da-DK" dirty="0"/>
          </a:p>
          <a:p>
            <a:r>
              <a:rPr lang="da-DK" b="1" dirty="0"/>
              <a:t>Spreadsheets:</a:t>
            </a:r>
            <a:r>
              <a:rPr lang="da-DK" dirty="0"/>
              <a:t> Initial data exploration.</a:t>
            </a:r>
          </a:p>
          <a:p>
            <a:r>
              <a:rPr lang="da-DK" b="1" dirty="0"/>
              <a:t>SQL (BigQuery):</a:t>
            </a:r>
            <a:r>
              <a:rPr lang="da-DK" dirty="0"/>
              <a:t> Processing and cleaning large datasets.</a:t>
            </a:r>
          </a:p>
          <a:p>
            <a:r>
              <a:rPr lang="da-DK" b="1" dirty="0"/>
              <a:t>R (RStudio):</a:t>
            </a:r>
            <a:r>
              <a:rPr lang="da-DK" dirty="0"/>
              <a:t> Statistical analysis and data transformation.</a:t>
            </a:r>
          </a:p>
          <a:p>
            <a:r>
              <a:rPr lang="da-DK" b="1" dirty="0"/>
              <a:t>Tableau:</a:t>
            </a:r>
            <a:r>
              <a:rPr lang="da-DK" dirty="0"/>
              <a:t> Final data visualization and dashboarding.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842066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Cyclistic Ride Patterns and Trends1">
            <a:extLst>
              <a:ext uri="{FF2B5EF4-FFF2-40B4-BE49-F238E27FC236}">
                <a16:creationId xmlns:a16="http://schemas.microsoft.com/office/drawing/2014/main" id="{3ED0646C-24B4-4D0B-A757-AA8CE59B8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587" y="57150"/>
            <a:ext cx="7473541" cy="680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5C3335-0797-ECD8-7430-0FEB52D28FA5}"/>
              </a:ext>
            </a:extLst>
          </p:cNvPr>
          <p:cNvSpPr txBox="1"/>
          <p:nvPr/>
        </p:nvSpPr>
        <p:spPr>
          <a:xfrm>
            <a:off x="226504" y="1484851"/>
            <a:ext cx="41398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Annual Members Account for Most </a:t>
            </a:r>
            <a:r>
              <a:rPr lang="en-US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Cyclistic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Rides</a:t>
            </a:r>
            <a:endParaRPr lang="en-NG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6F019-49CD-DABB-4190-20496FDFFD52}"/>
              </a:ext>
            </a:extLst>
          </p:cNvPr>
          <p:cNvSpPr txBox="1"/>
          <p:nvPr/>
        </p:nvSpPr>
        <p:spPr>
          <a:xfrm>
            <a:off x="467633" y="2922493"/>
            <a:ext cx="39737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 dominate total rides in both 2019 and 2020.</a:t>
            </a:r>
          </a:p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Casual ridership increased in 2020, showing significant growth potential.</a:t>
            </a:r>
            <a:endParaRPr lang="en-NG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Cyclistic Ride Patterns and Trends2">
            <a:extLst>
              <a:ext uri="{FF2B5EF4-FFF2-40B4-BE49-F238E27FC236}">
                <a16:creationId xmlns:a16="http://schemas.microsoft.com/office/drawing/2014/main" id="{17BEB9F5-8B4E-4FC2-9755-F25D43588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076" y="0"/>
            <a:ext cx="7660923" cy="70212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C96B53-8097-88C1-C8C0-41BED889C047}"/>
              </a:ext>
            </a:extLst>
          </p:cNvPr>
          <p:cNvSpPr txBox="1"/>
          <p:nvPr/>
        </p:nvSpPr>
        <p:spPr>
          <a:xfrm>
            <a:off x="226504" y="1484851"/>
            <a:ext cx="43045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Casual Riders Lead in Trip Duration</a:t>
            </a:r>
            <a:endParaRPr lang="en-NG"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7D5D3-3C4F-FECD-84F3-5CAC7C85AB13}"/>
              </a:ext>
            </a:extLst>
          </p:cNvPr>
          <p:cNvSpPr txBox="1"/>
          <p:nvPr/>
        </p:nvSpPr>
        <p:spPr>
          <a:xfrm>
            <a:off x="226503" y="2571429"/>
            <a:ext cx="41398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 trip durations for casual riders consistently double those of members in both years.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Cyclistic Ride Patterns and Trends5">
            <a:extLst>
              <a:ext uri="{FF2B5EF4-FFF2-40B4-BE49-F238E27FC236}">
                <a16:creationId xmlns:a16="http://schemas.microsoft.com/office/drawing/2014/main" id="{2FDD14A0-F087-4A86-9B3D-4AC244CBC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759" y="175531"/>
            <a:ext cx="7297562" cy="6923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613422-A69E-F5A5-D3FB-AA8F783173E9}"/>
              </a:ext>
            </a:extLst>
          </p:cNvPr>
          <p:cNvSpPr txBox="1"/>
          <p:nvPr/>
        </p:nvSpPr>
        <p:spPr>
          <a:xfrm>
            <a:off x="226504" y="1484851"/>
            <a:ext cx="43045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Casual Riders Lead in Trip Duration</a:t>
            </a:r>
            <a:endParaRPr lang="en-NG"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F4F895-4037-FE43-207D-09A0E75C3C7D}"/>
              </a:ext>
            </a:extLst>
          </p:cNvPr>
          <p:cNvSpPr txBox="1"/>
          <p:nvPr/>
        </p:nvSpPr>
        <p:spPr>
          <a:xfrm>
            <a:off x="226503" y="2571429"/>
            <a:ext cx="41398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 trip durations for casual riders consistently double those of members in both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Casual riders average significantly longer trips—up to 4x the duration of members.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 favor short, frequent utility trips, while casual riders use the service for long-duration leisure.</a:t>
            </a:r>
            <a:endParaRPr lang="en-NG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Cyclistic Ride Patterns and Trends3">
            <a:extLst>
              <a:ext uri="{FF2B5EF4-FFF2-40B4-BE49-F238E27FC236}">
                <a16:creationId xmlns:a16="http://schemas.microsoft.com/office/drawing/2014/main" id="{FAF68BFF-9CF4-46C6-BEF7-8BF19EA0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712" y="-204107"/>
            <a:ext cx="7512288" cy="71274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7B647F-2913-B101-6623-23F55ECB5C21}"/>
              </a:ext>
            </a:extLst>
          </p:cNvPr>
          <p:cNvSpPr txBox="1"/>
          <p:nvPr/>
        </p:nvSpPr>
        <p:spPr>
          <a:xfrm>
            <a:off x="226503" y="545958"/>
            <a:ext cx="46230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 Ride Weekdays; Casual Riders Prefer Weekends</a:t>
            </a:r>
            <a:endParaRPr lang="en-NG"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8899B-27D3-D308-C3E7-C5EFC24B8FAC}"/>
              </a:ext>
            </a:extLst>
          </p:cNvPr>
          <p:cNvSpPr txBox="1"/>
          <p:nvPr/>
        </p:nvSpPr>
        <p:spPr>
          <a:xfrm>
            <a:off x="226503" y="2048915"/>
            <a:ext cx="413986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Annual members dominate weekday volume, peaking Tuesday through Thursday.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Casual ridership concentrates on weekends, with a notable surge on Sundays.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Casual weekend usage grew significantly in 2020 compared to 2019 levels.</a:t>
            </a:r>
            <a:endParaRPr lang="en-NG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2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Cyclistic Ride Patterns and Trends4">
            <a:extLst>
              <a:ext uri="{FF2B5EF4-FFF2-40B4-BE49-F238E27FC236}">
                <a16:creationId xmlns:a16="http://schemas.microsoft.com/office/drawing/2014/main" id="{4AAC4DB8-1174-4F07-8C31-492E6B663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855" y="0"/>
            <a:ext cx="722831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811646-5306-E882-B22A-1C9464CDD089}"/>
              </a:ext>
            </a:extLst>
          </p:cNvPr>
          <p:cNvSpPr txBox="1"/>
          <p:nvPr/>
        </p:nvSpPr>
        <p:spPr>
          <a:xfrm>
            <a:off x="226503" y="545958"/>
            <a:ext cx="46230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 Ride During Commute Hours; Casual Riders Ride Midday</a:t>
            </a:r>
            <a:endParaRPr lang="en-NG"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39D68-6A7E-6484-DA1A-212C721F9FFB}"/>
              </a:ext>
            </a:extLst>
          </p:cNvPr>
          <p:cNvSpPr txBox="1"/>
          <p:nvPr/>
        </p:nvSpPr>
        <p:spPr>
          <a:xfrm>
            <a:off x="226503" y="2048915"/>
            <a:ext cx="413986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Annual members show sharp spikes at 8 AM and 5 PM, aligning perfectly with standard workday commute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Casual ridership builds steadily throughout the day, peaking between 12 PM and 4 PM without distinct commute spikes.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both groups follow similar daily curves, member volume significantly outweighs casual volume at all hours.</a:t>
            </a:r>
            <a:endParaRPr lang="en-NG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26" end="3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C3BE-1DF3-EF64-AC13-729BF3318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Data-Driven Recommendations for Member Conversion</a:t>
            </a:r>
            <a:endParaRPr lang="en-NG" sz="3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55BB0-8F69-E101-0EC5-9644BC2A1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145054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2BCA-3132-7229-73F7-FE45D651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056E3-98DB-A70E-E3D2-D0A0AE9DD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Source:</a:t>
            </a:r>
            <a:r>
              <a:rPr lang="en-US" dirty="0"/>
              <a:t> Referenced historical trip data from </a:t>
            </a:r>
            <a:r>
              <a:rPr lang="en-US" dirty="0" err="1"/>
              <a:t>Cyclistic's</a:t>
            </a:r>
            <a:r>
              <a:rPr lang="en-US" dirty="0"/>
              <a:t> </a:t>
            </a:r>
            <a:r>
              <a:rPr lang="en-US" dirty="0" err="1"/>
              <a:t>geotracked</a:t>
            </a:r>
            <a:r>
              <a:rPr lang="en-US" dirty="0"/>
              <a:t> fleet of 5,824 bicycles and 692 stations.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433214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345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Cyclistic Conversion Strategy 2019-2020 Growth Analysis</vt:lpstr>
      <vt:lpstr>Business Task</vt:lpstr>
      <vt:lpstr>Analysis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Data-Driven Recommendations for Member Conversion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Samuel Sanni</cp:lastModifiedBy>
  <cp:revision>1</cp:revision>
  <dcterms:created xsi:type="dcterms:W3CDTF">2026-01-03T05:50:57Z</dcterms:created>
  <dcterms:modified xsi:type="dcterms:W3CDTF">2026-01-03T07:03:35Z</dcterms:modified>
</cp:coreProperties>
</file>